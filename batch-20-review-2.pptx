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19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64031-DC1C-BC1C-8B66-D474D6C2A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BAA66C-7488-3CF5-AD71-8C0F44356E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482BD-81FC-58CD-10B9-74AAF118C0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2B7DB-798B-B416-8AC2-7E54385AC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73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914400" cy="7315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051560"/>
            <a:ext cx="777240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A3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1A3A52"/>
                </a:solidFill>
                <a:latin typeface="Calibri"/>
              </a:rPr>
              <a:t>AI-Driven Recruitment &amp; HR:
Recruitment Approval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2788920"/>
            <a:ext cx="4206240" cy="12464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500" b="0" dirty="0">
                <a:solidFill>
                  <a:srgbClr val="14191E"/>
                </a:solidFill>
                <a:latin typeface="Calibri"/>
              </a:rPr>
              <a:t>Team Members:
D. Vinay Varma  2420030272
R Harshit  2420030271
Sai </a:t>
            </a:r>
            <a:r>
              <a:rPr lang="en-IN" sz="1500" b="0" dirty="0" err="1">
                <a:solidFill>
                  <a:srgbClr val="14191E"/>
                </a:solidFill>
                <a:latin typeface="Calibri"/>
              </a:rPr>
              <a:t>teja</a:t>
            </a:r>
            <a:r>
              <a:rPr lang="en-IN" sz="1500" b="0" dirty="0">
                <a:solidFill>
                  <a:srgbClr val="14191E"/>
                </a:solidFill>
                <a:latin typeface="Calibri"/>
              </a:rPr>
              <a:t> 2420030764</a:t>
            </a:r>
            <a:endParaRPr sz="1500" b="0" dirty="0">
              <a:solidFill>
                <a:srgbClr val="14191E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4462272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1A3A52"/>
                </a:solidFill>
                <a:latin typeface="Calibri"/>
              </a:rPr>
              <a:t>KL University
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2971800"/>
            <a:ext cx="301752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dirty="0">
                <a:solidFill>
                  <a:srgbClr val="5F6973"/>
                </a:solidFill>
                <a:latin typeface="Calibri"/>
              </a:rPr>
              <a:t>Name of the Guide:</a:t>
            </a:r>
            <a:r>
              <a:rPr lang="en-IN" sz="1400" b="0" dirty="0">
                <a:solidFill>
                  <a:srgbClr val="5F6973"/>
                </a:solidFill>
                <a:latin typeface="Calibri"/>
              </a:rPr>
              <a:t> Neelima Gogineni</a:t>
            </a:r>
            <a:r>
              <a:rPr sz="1400" b="0" dirty="0">
                <a:solidFill>
                  <a:srgbClr val="5F6973"/>
                </a:solidFill>
                <a:latin typeface="Calibri"/>
              </a:rPr>
              <a:t>
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91440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A52"/>
                </a:solidFill>
                <a:latin typeface="Calibri"/>
              </a:rPr>
              <a:t>Project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51560"/>
            <a:ext cx="3840480" cy="1143000"/>
          </a:xfrm>
          <a:prstGeom prst="roundRect">
            <a:avLst/>
          </a:prstGeom>
          <a:solidFill>
            <a:srgbClr val="E7F2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500" b="1">
                <a:solidFill>
                  <a:srgbClr val="14191E"/>
                </a:solidFill>
                <a:latin typeface="Calibri"/>
              </a:rPr>
              <a:t>Project Purpose</a:t>
            </a:r>
          </a:p>
          <a:p>
            <a:pPr algn="ctr"/>
            <a:r>
              <a:rPr sz="1080">
                <a:solidFill>
                  <a:srgbClr val="14191E"/>
                </a:solidFill>
                <a:latin typeface="Calibri"/>
              </a:rPr>
              <a:t>Design a modular, secure and intelligent recruitment workflow where recruiters create requests, evaluate candidates and submit them for HR approval.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051560"/>
            <a:ext cx="3840480" cy="114300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67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500" b="1">
                <a:solidFill>
                  <a:srgbClr val="14191E"/>
                </a:solidFill>
                <a:latin typeface="Calibri"/>
              </a:rPr>
              <a:t>Proposed System</a:t>
            </a:r>
          </a:p>
          <a:p>
            <a:pPr algn="ctr"/>
            <a:r>
              <a:rPr sz="1080">
                <a:solidFill>
                  <a:srgbClr val="14191E"/>
                </a:solidFill>
                <a:latin typeface="Calibri"/>
              </a:rPr>
              <a:t>SOA-based architecture with independent services, AI-assisted candidate evaluation, JWT/RBAC security and event-driven notifications.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2316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52"/>
                </a:solidFill>
                <a:latin typeface="Calibri"/>
              </a:rPr>
              <a:t>Three Academic Pillars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2423160" cy="960120"/>
          </a:xfrm>
          <a:prstGeom prst="roundRect">
            <a:avLst/>
          </a:prstGeom>
          <a:solidFill>
            <a:srgbClr val="E7F2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500" b="1">
                <a:solidFill>
                  <a:srgbClr val="14191E"/>
                </a:solidFill>
                <a:latin typeface="Calibri"/>
              </a:rPr>
              <a:t>1. PROJECT DESIGN</a:t>
            </a:r>
          </a:p>
          <a:p>
            <a:pPr algn="ctr"/>
            <a:r>
              <a:rPr sz="1050">
                <a:solidFill>
                  <a:srgbClr val="14191E"/>
                </a:solidFill>
                <a:latin typeface="Calibri"/>
              </a:rPr>
              <a:t>SOA decomposition, services, APIs, Gateway, Eureka, Kafka and data ownership.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2788920"/>
            <a:ext cx="2423160" cy="960120"/>
          </a:xfrm>
          <a:prstGeom prst="roundRect">
            <a:avLst/>
          </a:prstGeom>
          <a:solidFill>
            <a:srgbClr val="E8F6EB"/>
          </a:solidFill>
          <a:ln w="19050">
            <a:solidFill>
              <a:srgbClr val="35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500" b="1">
                <a:solidFill>
                  <a:srgbClr val="14191E"/>
                </a:solidFill>
                <a:latin typeface="Calibri"/>
              </a:rPr>
              <a:t>2. METHODOLOGY ADOPTED</a:t>
            </a:r>
          </a:p>
          <a:p>
            <a:pPr algn="ctr"/>
            <a:r>
              <a:rPr sz="1050">
                <a:solidFill>
                  <a:srgbClr val="14191E"/>
                </a:solidFill>
                <a:latin typeface="Calibri"/>
              </a:rPr>
              <a:t>Requirement analysis → design → implementation → integration → testing → deployment.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788920"/>
            <a:ext cx="2423160" cy="960120"/>
          </a:xfrm>
          <a:prstGeom prst="roundRect">
            <a:avLst/>
          </a:prstGeom>
          <a:solidFill>
            <a:srgbClr val="FCF4E0"/>
          </a:solidFill>
          <a:ln w="19050">
            <a:solidFill>
              <a:srgbClr val="B87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500" b="1">
                <a:solidFill>
                  <a:srgbClr val="14191E"/>
                </a:solidFill>
                <a:latin typeface="Calibri"/>
              </a:rPr>
              <a:t>3. TECHNICAL SOUNDNESS</a:t>
            </a:r>
          </a:p>
          <a:p>
            <a:pPr algn="ctr"/>
            <a:r>
              <a:rPr sz="1019">
                <a:solidFill>
                  <a:srgbClr val="14191E"/>
                </a:solidFill>
                <a:latin typeface="Calibri"/>
              </a:rPr>
              <a:t>Loose coupling, autonomy, reusability, discoverability, scalability, security and fault isolation.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945636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 dirty="0">
                <a:solidFill>
                  <a:srgbClr val="1A3A52"/>
                </a:solidFill>
                <a:latin typeface="Calibri"/>
              </a:rPr>
              <a:t>Main 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30493"/>
            <a:ext cx="7680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40">
                <a:solidFill>
                  <a:srgbClr val="14191E"/>
                </a:solidFill>
                <a:latin typeface="Calibri"/>
              </a:defRPr>
            </a:pPr>
            <a:r>
              <a:rPr dirty="0"/>
              <a:t>• React Frontend + Spring Cloud Gateway</a:t>
            </a:r>
          </a:p>
          <a:p>
            <a:pPr>
              <a:spcAft>
                <a:spcPts val="500"/>
              </a:spcAft>
              <a:defRPr sz="1040">
                <a:solidFill>
                  <a:srgbClr val="14191E"/>
                </a:solidFill>
                <a:latin typeface="Calibri"/>
              </a:defRPr>
            </a:pPr>
            <a:r>
              <a:rPr dirty="0"/>
              <a:t>• User/Auth, Recruitment, Approval + Notification Services</a:t>
            </a:r>
          </a:p>
          <a:p>
            <a:pPr>
              <a:spcAft>
                <a:spcPts val="500"/>
              </a:spcAft>
              <a:defRPr sz="1040">
                <a:solidFill>
                  <a:srgbClr val="14191E"/>
                </a:solidFill>
                <a:latin typeface="Calibri"/>
              </a:defRPr>
            </a:pPr>
            <a:r>
              <a:rPr dirty="0"/>
              <a:t>• AI-assisted candidate evaluation + Eureka service discovery</a:t>
            </a:r>
          </a:p>
          <a:p>
            <a:pPr>
              <a:spcAft>
                <a:spcPts val="500"/>
              </a:spcAft>
              <a:defRPr sz="1040">
                <a:solidFill>
                  <a:srgbClr val="14191E"/>
                </a:solidFill>
                <a:latin typeface="Calibri"/>
              </a:defRPr>
            </a:pPr>
            <a:r>
              <a:rPr dirty="0"/>
              <a:t>• Kafka event-driven communication + independent service databases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154" y="9144"/>
            <a:ext cx="91440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A52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40" y="868680"/>
            <a:ext cx="2743200" cy="502920"/>
          </a:xfrm>
          <a:prstGeom prst="roundRect">
            <a:avLst/>
          </a:prstGeom>
          <a:solidFill>
            <a:srgbClr val="E7F2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400" b="1" dirty="0">
                <a:solidFill>
                  <a:srgbClr val="14191E"/>
                </a:solidFill>
                <a:latin typeface="Calibri"/>
              </a:rPr>
              <a:t>React Frontend</a:t>
            </a:r>
          </a:p>
          <a:p>
            <a:pPr algn="ctr"/>
            <a:r>
              <a:rPr sz="950" dirty="0">
                <a:solidFill>
                  <a:srgbClr val="14191E"/>
                </a:solidFill>
                <a:latin typeface="Calibri"/>
              </a:rPr>
              <a:t>Recruiter / HR / Admin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572768"/>
            <a:ext cx="2743200" cy="566928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67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400" b="1">
                <a:solidFill>
                  <a:srgbClr val="14191E"/>
                </a:solidFill>
                <a:latin typeface="Calibri"/>
              </a:rPr>
              <a:t>Spring Cloud Gateway</a:t>
            </a:r>
          </a:p>
          <a:p>
            <a:pPr algn="ctr"/>
            <a:r>
              <a:rPr sz="919">
                <a:solidFill>
                  <a:srgbClr val="14191E"/>
                </a:solidFill>
                <a:latin typeface="Calibri"/>
              </a:rPr>
              <a:t>Single entry point • Routing • CORS • Security integration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434840" y="1371600"/>
            <a:ext cx="0" cy="201168"/>
          </a:xfrm>
          <a:prstGeom prst="line">
            <a:avLst/>
          </a:prstGeom>
          <a:ln w="20320">
            <a:solidFill>
              <a:srgbClr val="1A3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94360" y="2423160"/>
            <a:ext cx="1691640" cy="749808"/>
          </a:xfrm>
          <a:prstGeom prst="roundRect">
            <a:avLst/>
          </a:prstGeom>
          <a:solidFill>
            <a:srgbClr val="E8F6EB"/>
          </a:solidFill>
          <a:ln w="19050">
            <a:solidFill>
              <a:srgbClr val="35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User/Auth Service</a:t>
            </a:r>
          </a:p>
          <a:p>
            <a:pPr algn="ctr"/>
            <a:r>
              <a:rPr sz="840">
                <a:solidFill>
                  <a:srgbClr val="14191E"/>
                </a:solidFill>
                <a:latin typeface="Calibri"/>
              </a:rPr>
              <a:t>Login • JWT • RBAC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440180" y="2139696"/>
            <a:ext cx="2994660" cy="283464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14600" y="2423160"/>
            <a:ext cx="1691640" cy="749808"/>
          </a:xfrm>
          <a:prstGeom prst="roundRect">
            <a:avLst/>
          </a:prstGeom>
          <a:solidFill>
            <a:srgbClr val="E7F2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Recruitment Service</a:t>
            </a:r>
          </a:p>
          <a:p>
            <a:pPr algn="ctr"/>
            <a:r>
              <a:rPr sz="840">
                <a:solidFill>
                  <a:srgbClr val="14191E"/>
                </a:solidFill>
                <a:latin typeface="Calibri"/>
              </a:rPr>
              <a:t>Requests • Candidates • Status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3360420" y="2139696"/>
            <a:ext cx="1074420" cy="283464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34840" y="2423160"/>
            <a:ext cx="1691640" cy="749808"/>
          </a:xfrm>
          <a:prstGeom prst="roundRect">
            <a:avLst/>
          </a:prstGeom>
          <a:solidFill>
            <a:srgbClr val="FCF4E0"/>
          </a:solidFill>
          <a:ln w="19050">
            <a:solidFill>
              <a:srgbClr val="B87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Approval Service</a:t>
            </a:r>
          </a:p>
          <a:p>
            <a:pPr algn="ctr"/>
            <a:r>
              <a:rPr sz="840">
                <a:solidFill>
                  <a:srgbClr val="14191E"/>
                </a:solidFill>
                <a:latin typeface="Calibri"/>
              </a:rPr>
              <a:t>HR approval • Remarks • History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34840" y="2139696"/>
            <a:ext cx="845819" cy="283464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55080" y="2423160"/>
            <a:ext cx="1691640" cy="749808"/>
          </a:xfrm>
          <a:prstGeom prst="roundRect">
            <a:avLst/>
          </a:prstGeom>
          <a:solidFill>
            <a:srgbClr val="FCEBEB"/>
          </a:solidFill>
          <a:ln w="1905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Notification Service</a:t>
            </a:r>
          </a:p>
          <a:p>
            <a:pPr algn="ctr"/>
            <a:r>
              <a:rPr sz="840">
                <a:solidFill>
                  <a:srgbClr val="14191E"/>
                </a:solidFill>
                <a:latin typeface="Calibri"/>
              </a:rPr>
              <a:t>Events • Notifications • History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34840" y="2139696"/>
            <a:ext cx="2766060" cy="283464"/>
          </a:xfrm>
          <a:prstGeom prst="line">
            <a:avLst/>
          </a:prstGeom>
          <a:ln w="1524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14600" y="3401568"/>
            <a:ext cx="2331720" cy="658368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67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300" b="1">
                <a:solidFill>
                  <a:srgbClr val="14191E"/>
                </a:solidFill>
                <a:latin typeface="Calibri"/>
              </a:rPr>
              <a:t>AI Service</a:t>
            </a:r>
          </a:p>
          <a:p>
            <a:pPr algn="ctr"/>
            <a:r>
              <a:rPr sz="880">
                <a:solidFill>
                  <a:srgbClr val="14191E"/>
                </a:solidFill>
                <a:latin typeface="Calibri"/>
              </a:rPr>
              <a:t>Skill • Experience • Education → Suitability score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55848" y="3172968"/>
            <a:ext cx="0" cy="228600"/>
          </a:xfrm>
          <a:prstGeom prst="line">
            <a:avLst/>
          </a:prstGeom>
          <a:ln w="17780">
            <a:solidFill>
              <a:srgbClr val="6752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166360" y="3401568"/>
            <a:ext cx="2331720" cy="658368"/>
          </a:xfrm>
          <a:prstGeom prst="roundRect">
            <a:avLst/>
          </a:prstGeom>
          <a:solidFill>
            <a:srgbClr val="E8F6EB"/>
          </a:solidFill>
          <a:ln w="19050">
            <a:solidFill>
              <a:srgbClr val="35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300" b="1">
                <a:solidFill>
                  <a:srgbClr val="14191E"/>
                </a:solidFill>
                <a:latin typeface="Calibri"/>
              </a:rPr>
              <a:t>Apache Kafka</a:t>
            </a:r>
          </a:p>
          <a:p>
            <a:pPr algn="ctr"/>
            <a:r>
              <a:rPr sz="850">
                <a:solidFill>
                  <a:srgbClr val="14191E"/>
                </a:solidFill>
                <a:latin typeface="Calibri"/>
              </a:rPr>
              <a:t>recruitment-approved / recruitment-rejected events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285232" y="3172968"/>
            <a:ext cx="612648" cy="228600"/>
          </a:xfrm>
          <a:prstGeom prst="line">
            <a:avLst/>
          </a:prstGeom>
          <a:ln w="19050">
            <a:solidFill>
              <a:srgbClr val="AA41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12280" y="1572768"/>
            <a:ext cx="1645920" cy="566928"/>
          </a:xfrm>
          <a:prstGeom prst="roundRect">
            <a:avLst/>
          </a:prstGeom>
          <a:solidFill>
            <a:srgbClr val="FCEBEB"/>
          </a:solidFill>
          <a:ln w="1905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200" b="1">
                <a:solidFill>
                  <a:srgbClr val="14191E"/>
                </a:solidFill>
                <a:latin typeface="Calibri"/>
              </a:rPr>
              <a:t>Eureka Server</a:t>
            </a:r>
          </a:p>
          <a:p>
            <a:pPr algn="ctr"/>
            <a:r>
              <a:rPr sz="850">
                <a:solidFill>
                  <a:srgbClr val="14191E"/>
                </a:solidFill>
                <a:latin typeface="Calibri"/>
              </a:rPr>
              <a:t>Service discovery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1440180" y="2139696"/>
            <a:ext cx="6195060" cy="283464"/>
          </a:xfrm>
          <a:prstGeom prst="line">
            <a:avLst/>
          </a:prstGeom>
          <a:ln w="11430">
            <a:solidFill>
              <a:srgbClr val="2C67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3360420" y="2139696"/>
            <a:ext cx="4274820" cy="283464"/>
          </a:xfrm>
          <a:prstGeom prst="line">
            <a:avLst/>
          </a:prstGeom>
          <a:ln w="11430">
            <a:solidFill>
              <a:srgbClr val="2C67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5280660" y="2139696"/>
            <a:ext cx="2354580" cy="283464"/>
          </a:xfrm>
          <a:prstGeom prst="line">
            <a:avLst/>
          </a:prstGeom>
          <a:ln w="11430">
            <a:solidFill>
              <a:srgbClr val="2C67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7200900" y="2139696"/>
            <a:ext cx="434340" cy="283464"/>
          </a:xfrm>
          <a:prstGeom prst="line">
            <a:avLst/>
          </a:prstGeom>
          <a:ln w="11430">
            <a:solidFill>
              <a:srgbClr val="2C67A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4360" y="4370832"/>
            <a:ext cx="1691640" cy="5029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00" b="1">
                <a:solidFill>
                  <a:srgbClr val="14191E"/>
                </a:solidFill>
                <a:latin typeface="Calibri"/>
              </a:rPr>
              <a:t>User DB</a:t>
            </a:r>
          </a:p>
          <a:p>
            <a:pPr algn="ctr"/>
            <a:r>
              <a:rPr sz="780">
                <a:solidFill>
                  <a:srgbClr val="14191E"/>
                </a:solidFill>
                <a:latin typeface="Calibri"/>
              </a:rPr>
              <a:t>Service-owned 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440180" y="4151376"/>
            <a:ext cx="0" cy="219456"/>
          </a:xfrm>
          <a:prstGeom prst="line">
            <a:avLst/>
          </a:prstGeom>
          <a:ln w="13970">
            <a:solidFill>
              <a:srgbClr val="357D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2514600" y="4370832"/>
            <a:ext cx="1691640" cy="5029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00" b="1">
                <a:solidFill>
                  <a:srgbClr val="14191E"/>
                </a:solidFill>
                <a:latin typeface="Calibri"/>
              </a:rPr>
              <a:t>Recruitment DB</a:t>
            </a:r>
          </a:p>
          <a:p>
            <a:pPr algn="ctr"/>
            <a:r>
              <a:rPr sz="780">
                <a:solidFill>
                  <a:srgbClr val="14191E"/>
                </a:solidFill>
                <a:latin typeface="Calibri"/>
              </a:rPr>
              <a:t>Service-owned data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360420" y="4151376"/>
            <a:ext cx="0" cy="219456"/>
          </a:xfrm>
          <a:prstGeom prst="line">
            <a:avLst/>
          </a:prstGeom>
          <a:ln w="13970">
            <a:solidFill>
              <a:srgbClr val="357D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434840" y="4370832"/>
            <a:ext cx="1691640" cy="5029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00" b="1">
                <a:solidFill>
                  <a:srgbClr val="14191E"/>
                </a:solidFill>
                <a:latin typeface="Calibri"/>
              </a:rPr>
              <a:t>Approval DB</a:t>
            </a:r>
          </a:p>
          <a:p>
            <a:pPr algn="ctr"/>
            <a:r>
              <a:rPr sz="780">
                <a:solidFill>
                  <a:srgbClr val="14191E"/>
                </a:solidFill>
                <a:latin typeface="Calibri"/>
              </a:rPr>
              <a:t>Service-owned data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80659" y="4151376"/>
            <a:ext cx="0" cy="219456"/>
          </a:xfrm>
          <a:prstGeom prst="line">
            <a:avLst/>
          </a:prstGeom>
          <a:ln w="13970">
            <a:solidFill>
              <a:srgbClr val="357D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355080" y="4370832"/>
            <a:ext cx="1691640" cy="50292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00" b="1">
                <a:solidFill>
                  <a:srgbClr val="14191E"/>
                </a:solidFill>
                <a:latin typeface="Calibri"/>
              </a:rPr>
              <a:t>Notification DB</a:t>
            </a:r>
          </a:p>
          <a:p>
            <a:pPr algn="ctr"/>
            <a:r>
              <a:rPr sz="780">
                <a:solidFill>
                  <a:srgbClr val="14191E"/>
                </a:solidFill>
                <a:latin typeface="Calibri"/>
              </a:rPr>
              <a:t>Service-owned data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200900" y="4151376"/>
            <a:ext cx="0" cy="219456"/>
          </a:xfrm>
          <a:prstGeom prst="line">
            <a:avLst/>
          </a:prstGeom>
          <a:ln w="13970">
            <a:solidFill>
              <a:srgbClr val="357D5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E37F3320-B618-E78A-ED6E-548AB89571C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542"/>
          <a:stretch>
            <a:fillRect/>
          </a:stretch>
        </p:blipFill>
        <p:spPr>
          <a:xfrm>
            <a:off x="352698" y="772668"/>
            <a:ext cx="8432074" cy="438226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91440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A52"/>
                </a:solidFill>
                <a:latin typeface="Calibri"/>
              </a:rPr>
              <a:t>Methodology Adopted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" y="1051560"/>
            <a:ext cx="1188720" cy="914400"/>
          </a:xfrm>
          <a:prstGeom prst="roundRect">
            <a:avLst/>
          </a:prstGeom>
          <a:solidFill>
            <a:srgbClr val="E7F2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Requirement
Analysis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417320" y="1508760"/>
            <a:ext cx="36576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453896" y="1051560"/>
            <a:ext cx="1188720" cy="914400"/>
          </a:xfrm>
          <a:prstGeom prst="roundRect">
            <a:avLst/>
          </a:prstGeom>
          <a:solidFill>
            <a:srgbClr val="E8F6EB"/>
          </a:solidFill>
          <a:ln w="19050">
            <a:solidFill>
              <a:srgbClr val="35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Service
Identification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42616" y="1508760"/>
            <a:ext cx="36576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79192" y="1051560"/>
            <a:ext cx="1188720" cy="91440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67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SOA
Decomposition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67912" y="1508760"/>
            <a:ext cx="36576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904488" y="1051560"/>
            <a:ext cx="1188720" cy="914400"/>
          </a:xfrm>
          <a:prstGeom prst="roundRect">
            <a:avLst/>
          </a:prstGeom>
          <a:solidFill>
            <a:srgbClr val="FCF4E0"/>
          </a:solidFill>
          <a:ln w="19050">
            <a:solidFill>
              <a:srgbClr val="B87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Architecture &amp;
API Design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93208" y="1508760"/>
            <a:ext cx="36576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9784" y="1051560"/>
            <a:ext cx="1188720" cy="914400"/>
          </a:xfrm>
          <a:prstGeom prst="roundRect">
            <a:avLst/>
          </a:prstGeom>
          <a:solidFill>
            <a:srgbClr val="FCEBEB"/>
          </a:solidFill>
          <a:ln w="19050">
            <a:solidFill>
              <a:srgbClr val="AA4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Security &amp;
Data Design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18504" y="1508760"/>
            <a:ext cx="36576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051560"/>
            <a:ext cx="1188720" cy="914400"/>
          </a:xfrm>
          <a:prstGeom prst="roundRect">
            <a:avLst/>
          </a:prstGeom>
          <a:solidFill>
            <a:srgbClr val="E7F2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Implementation &amp;
Integration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543800" y="1508760"/>
            <a:ext cx="36575" cy="0"/>
          </a:xfrm>
          <a:prstGeom prst="line">
            <a:avLst/>
          </a:prstGeom>
          <a:ln w="12700">
            <a:solidFill>
              <a:srgbClr val="5F69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580376" y="1051560"/>
            <a:ext cx="1188720" cy="914400"/>
          </a:xfrm>
          <a:prstGeom prst="roundRect">
            <a:avLst/>
          </a:prstGeom>
          <a:solidFill>
            <a:srgbClr val="E8F6EB"/>
          </a:solidFill>
          <a:ln w="19050">
            <a:solidFill>
              <a:srgbClr val="35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150" b="1">
                <a:solidFill>
                  <a:srgbClr val="14191E"/>
                </a:solidFill>
                <a:latin typeface="Calibri"/>
              </a:rPr>
              <a:t>Testing &amp;
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3317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52"/>
                </a:solidFill>
                <a:latin typeface="Calibri"/>
              </a:rPr>
              <a:t>Methodology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697480"/>
            <a:ext cx="76809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14191E"/>
                </a:solidFill>
                <a:latin typeface="Calibri"/>
              </a:defRPr>
            </a:pPr>
            <a:r>
              <a:t>• Business responsibilities are mapped to independent services.</a:t>
            </a:r>
          </a:p>
          <a:p>
            <a:pPr>
              <a:spcAft>
                <a:spcPts val="500"/>
              </a:spcAft>
              <a:defRPr sz="1150">
                <a:solidFill>
                  <a:srgbClr val="14191E"/>
                </a:solidFill>
                <a:latin typeface="Calibri"/>
              </a:defRPr>
            </a:pPr>
            <a:r>
              <a:t>• REST APIs are designed for standardized synchronous communication.</a:t>
            </a:r>
          </a:p>
          <a:p>
            <a:pPr>
              <a:spcAft>
                <a:spcPts val="500"/>
              </a:spcAft>
              <a:defRPr sz="1150">
                <a:solidFill>
                  <a:srgbClr val="14191E"/>
                </a:solidFill>
                <a:latin typeface="Calibri"/>
              </a:defRPr>
            </a:pPr>
            <a:r>
              <a:t>• JWT, Spring Security, RBAC and password hashing are applied to protected APIs.</a:t>
            </a:r>
          </a:p>
          <a:p>
            <a:pPr>
              <a:spcAft>
                <a:spcPts val="500"/>
              </a:spcAft>
              <a:defRPr sz="1150">
                <a:solidFill>
                  <a:srgbClr val="14191E"/>
                </a:solidFill>
                <a:latin typeface="Calibri"/>
              </a:defRPr>
            </a:pPr>
            <a:r>
              <a:t>• AI integration supports candidate evaluation without replacing HR judgment.</a:t>
            </a:r>
          </a:p>
          <a:p>
            <a:pPr>
              <a:spcAft>
                <a:spcPts val="500"/>
              </a:spcAft>
              <a:defRPr sz="1150">
                <a:solidFill>
                  <a:srgbClr val="14191E"/>
                </a:solidFill>
                <a:latin typeface="Calibri"/>
              </a:defRPr>
            </a:pPr>
            <a:r>
              <a:t>• Kafka is introduced where asynchronous, loosely coupled communication is appropriate.</a:t>
            </a:r>
          </a:p>
          <a:p>
            <a:pPr>
              <a:spcAft>
                <a:spcPts val="500"/>
              </a:spcAft>
              <a:defRPr sz="1150">
                <a:solidFill>
                  <a:srgbClr val="14191E"/>
                </a:solidFill>
                <a:latin typeface="Calibri"/>
              </a:defRPr>
            </a:pPr>
            <a:r>
              <a:t>• Testing covers authentication, authorization, recruitment, AI evaluation, approval, events, notifications and error handling.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91440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A52"/>
                </a:solidFill>
                <a:latin typeface="Calibri"/>
              </a:rPr>
              <a:t>Technical Implementation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2560320" cy="1143000"/>
          </a:xfrm>
          <a:prstGeom prst="roundRect">
            <a:avLst/>
          </a:prstGeom>
          <a:solidFill>
            <a:srgbClr val="E7F2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400" b="1">
                <a:solidFill>
                  <a:srgbClr val="14191E"/>
                </a:solidFill>
                <a:latin typeface="Calibri"/>
              </a:rPr>
              <a:t>Frontend &amp; Gateway</a:t>
            </a:r>
          </a:p>
          <a:p>
            <a:pPr algn="ctr"/>
            <a:r>
              <a:rPr sz="1019">
                <a:solidFill>
                  <a:srgbClr val="14191E"/>
                </a:solidFill>
                <a:latin typeface="Calibri"/>
              </a:rPr>
              <a:t>• React frontend
• Spring Cloud Gateway
• Request routing
• CORS
• Centralized entry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91840" y="960120"/>
            <a:ext cx="2560320" cy="1143000"/>
          </a:xfrm>
          <a:prstGeom prst="roundRect">
            <a:avLst/>
          </a:prstGeom>
          <a:solidFill>
            <a:srgbClr val="E8F6EB"/>
          </a:solidFill>
          <a:ln w="19050">
            <a:solidFill>
              <a:srgbClr val="357D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400" b="1">
                <a:solidFill>
                  <a:srgbClr val="14191E"/>
                </a:solidFill>
                <a:latin typeface="Calibri"/>
              </a:rPr>
              <a:t>Services &amp; Security</a:t>
            </a:r>
          </a:p>
          <a:p>
            <a:pPr algn="ctr"/>
            <a:r>
              <a:rPr sz="940">
                <a:solidFill>
                  <a:srgbClr val="14191E"/>
                </a:solidFill>
                <a:latin typeface="Calibri"/>
              </a:rPr>
              <a:t>• Java / Spring Boot
• User/Auth Service
• Recruitment Service
• Approval &amp; Notification Services
• JWT + Spring Security + RBAC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960120"/>
            <a:ext cx="2560320" cy="1143000"/>
          </a:xfrm>
          <a:prstGeom prst="roundRect">
            <a:avLst/>
          </a:prstGeom>
          <a:solidFill>
            <a:srgbClr val="EFEAFA"/>
          </a:solidFill>
          <a:ln w="19050">
            <a:solidFill>
              <a:srgbClr val="675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rtlCol="0" anchor="ctr"/>
          <a:lstStyle/>
          <a:p>
            <a:pPr algn="ctr"/>
            <a:r>
              <a:rPr sz="1400" b="1">
                <a:solidFill>
                  <a:srgbClr val="14191E"/>
                </a:solidFill>
                <a:latin typeface="Calibri"/>
              </a:rPr>
              <a:t>Integration &amp; Data</a:t>
            </a:r>
          </a:p>
          <a:p>
            <a:pPr algn="ctr"/>
            <a:r>
              <a:rPr sz="960">
                <a:solidFill>
                  <a:srgbClr val="14191E"/>
                </a:solidFill>
                <a:latin typeface="Calibri"/>
              </a:rPr>
              <a:t>• Eureka discovery
• REST / HTTP / JSON
• Kafka events
• Independent databases
• AI-assisted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8229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52"/>
                </a:solidFill>
                <a:latin typeface="Calibri"/>
              </a:rPr>
              <a:t>Key Technical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768096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14191E"/>
                </a:solidFill>
                <a:latin typeface="Calibri"/>
              </a:defRPr>
            </a:pPr>
            <a:r>
              <a:t>• JWT-based authentication with backend-enforced role-based authorization.</a:t>
            </a:r>
          </a:p>
          <a:p>
            <a:pPr>
              <a:spcAft>
                <a:spcPts val="500"/>
              </a:spcAft>
              <a:defRPr sz="1200">
                <a:solidFill>
                  <a:srgbClr val="14191E"/>
                </a:solidFill>
                <a:latin typeface="Calibri"/>
              </a:defRPr>
            </a:pPr>
            <a:r>
              <a:t>• Service discovery through Eureka instead of hardcoded service locations.</a:t>
            </a:r>
          </a:p>
          <a:p>
            <a:pPr>
              <a:spcAft>
                <a:spcPts val="500"/>
              </a:spcAft>
              <a:defRPr sz="1200">
                <a:solidFill>
                  <a:srgbClr val="14191E"/>
                </a:solidFill>
                <a:latin typeface="Calibri"/>
              </a:defRPr>
            </a:pPr>
            <a:r>
              <a:t>• REST APIs for synchronous interaction between independent services.</a:t>
            </a:r>
          </a:p>
          <a:p>
            <a:pPr>
              <a:spcAft>
                <a:spcPts val="500"/>
              </a:spcAft>
              <a:defRPr sz="1200">
                <a:solidFill>
                  <a:srgbClr val="14191E"/>
                </a:solidFill>
                <a:latin typeface="Calibri"/>
              </a:defRPr>
            </a:pPr>
            <a:r>
              <a:t>• Kafka for asynchronous approval/rejection events and notification processing.</a:t>
            </a:r>
          </a:p>
          <a:p>
            <a:pPr>
              <a:spcAft>
                <a:spcPts val="500"/>
              </a:spcAft>
              <a:defRPr sz="1200">
                <a:solidFill>
                  <a:srgbClr val="14191E"/>
                </a:solidFill>
                <a:latin typeface="Calibri"/>
              </a:defRPr>
            </a:pPr>
            <a:r>
              <a:t>• Independent data ownership: services do not directly query another service's database.</a:t>
            </a:r>
          </a:p>
          <a:p>
            <a:pPr>
              <a:spcAft>
                <a:spcPts val="500"/>
              </a:spcAft>
              <a:defRPr sz="1200">
                <a:solidFill>
                  <a:srgbClr val="14191E"/>
                </a:solidFill>
                <a:latin typeface="Calibri"/>
              </a:defRPr>
            </a:pPr>
            <a:r>
              <a:t>• AI-assisted candidate evaluation returns suitability score, matching skills, missing skills and recommendation.</a:t>
            </a:r>
          </a:p>
          <a:p>
            <a:pPr>
              <a:spcAft>
                <a:spcPts val="500"/>
              </a:spcAft>
              <a:defRPr sz="1200">
                <a:solidFill>
                  <a:srgbClr val="14191E"/>
                </a:solidFill>
                <a:latin typeface="Calibri"/>
              </a:defRPr>
            </a:pPr>
            <a:r>
              <a:t>• Architecture supports independent deployment, scaling and future notification channels.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91440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A52"/>
                </a:solidFill>
                <a:latin typeface="Calibri"/>
              </a:rPr>
              <a:t>Technical Soundness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850392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37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8229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Area</a:t>
                      </a:r>
                    </a:p>
                  </a:txBody>
                  <a:tcPr>
                    <a:solidFill>
                      <a:srgbClr val="1A3A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Implementation in the Project</a:t>
                      </a:r>
                    </a:p>
                  </a:txBody>
                  <a:tcPr>
                    <a:solidFill>
                      <a:srgbClr val="1A3A5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Loose Coupling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REST APIs and Kafka events avoid tight dependency on internal service implementations.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High Cohesion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Each service has a focused responsibility: users, recruitment, AI evaluation, approval or notifications.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Service Autonomy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Services own their business logic and data and can evolve independently.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Reusability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Standard APIs can be reused by web, mobile or future HR clients.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Discoverability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Eureka provides service registration and discovery.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Interoperability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HTTP/REST/JSON and Kafka provide standardized communication mechanisms.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Scalability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Independent services can be scaled according to their individual workload.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Fault Isolation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Kafka decouples notification processing from the approval workflow.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8229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Security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JWT, Spring Security, RBAC, password hashing, protected APIs and audit-related controls.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8230">
                <a:tc>
                  <a:txBody>
                    <a:bodyPr/>
                    <a:lstStyle/>
                    <a:p>
                      <a:r>
                        <a:rPr sz="919" b="1">
                          <a:solidFill>
                            <a:srgbClr val="14191E"/>
                          </a:solidFill>
                          <a:latin typeface="Calibri"/>
                        </a:rPr>
                        <a:t>Data Ownership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19">
                          <a:solidFill>
                            <a:srgbClr val="14191E"/>
                          </a:solidFill>
                          <a:latin typeface="Calibri"/>
                        </a:rPr>
                        <a:t>Each service manages its own database; cross-service data access uses APIs/events.</a:t>
                      </a:r>
                    </a:p>
                  </a:txBody>
                  <a:tcPr marL="54864" marR="54864" marT="18288" marB="18288"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914400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56032"/>
            <a:ext cx="7589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A52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60120"/>
            <a:ext cx="8229600" cy="3886200"/>
          </a:xfrm>
          <a:prstGeom prst="roundRect">
            <a:avLst/>
          </a:prstGeom>
          <a:solidFill>
            <a:srgbClr val="F2F7FC"/>
          </a:solidFill>
          <a:ln w="19050">
            <a:solidFill>
              <a:srgbClr val="2C6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7498079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A3A52"/>
                </a:solidFill>
                <a:latin typeface="Calibri"/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7498079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4191E"/>
                </a:solidFill>
                <a:latin typeface="Calibri"/>
              </a:rPr>
              <a:t>The AI-Driven Recruitment &amp; HR system demonstrates how an end-to-end recruitment approval workflow can be decomposed into independent SOA services while keeping security, data ownership and communication concerns explicit.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88920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A3A52"/>
                </a:solidFill>
                <a:latin typeface="Calibri"/>
              </a:rPr>
              <a:t>Key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72237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70">
                <a:solidFill>
                  <a:srgbClr val="14191E"/>
                </a:solidFill>
                <a:latin typeface="Calibri"/>
              </a:defRPr>
            </a:pPr>
            <a:r>
              <a:t>• SOA-based modular design with Gateway, Eureka and independent services.</a:t>
            </a:r>
          </a:p>
          <a:p>
            <a:pPr>
              <a:spcAft>
                <a:spcPts val="500"/>
              </a:spcAft>
              <a:defRPr sz="1170">
                <a:solidFill>
                  <a:srgbClr val="14191E"/>
                </a:solidFill>
                <a:latin typeface="Calibri"/>
              </a:defRPr>
            </a:pPr>
            <a:r>
              <a:t>• Secure recruiter, HR and admin access using JWT and RBAC.</a:t>
            </a:r>
          </a:p>
          <a:p>
            <a:pPr>
              <a:spcAft>
                <a:spcPts val="500"/>
              </a:spcAft>
              <a:defRPr sz="1170">
                <a:solidFill>
                  <a:srgbClr val="14191E"/>
                </a:solidFill>
                <a:latin typeface="Calibri"/>
              </a:defRPr>
            </a:pPr>
            <a:r>
              <a:t>• AI-assisted candidate evaluation that supports — but does not replace — HR judgment.</a:t>
            </a:r>
          </a:p>
          <a:p>
            <a:pPr>
              <a:spcAft>
                <a:spcPts val="500"/>
              </a:spcAft>
              <a:defRPr sz="1170">
                <a:solidFill>
                  <a:srgbClr val="14191E"/>
                </a:solidFill>
                <a:latin typeface="Calibri"/>
              </a:defRPr>
            </a:pPr>
            <a:r>
              <a:t>• Kafka-based approval/rejection events enabling loosely coupled notifications.</a:t>
            </a:r>
          </a:p>
          <a:p>
            <a:pPr>
              <a:spcAft>
                <a:spcPts val="500"/>
              </a:spcAft>
              <a:defRPr sz="1170">
                <a:solidFill>
                  <a:srgbClr val="14191E"/>
                </a:solidFill>
                <a:latin typeface="Calibri"/>
              </a:defRPr>
            </a:pPr>
            <a:r>
              <a:t>• Independent data ownership, service autonomy, scalability and maintainability.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818888"/>
            <a:ext cx="7772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1A3A52"/>
                </a:solidFill>
                <a:latin typeface="Calibri"/>
              </a:rPr>
              <a:t>PROJECT DESIGN  •  METHODOLOGY ADOPTED  •  TECHNICAL SOUNDNESS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1D936-2B35-4C44-A0B5-E85AFF643E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B4C55E0F-25B4-EE50-721B-6E68D20A7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74320"/>
            <a:ext cx="914400" cy="7315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94D218-B447-22DF-F5C8-9BF725F87330}"/>
              </a:ext>
            </a:extLst>
          </p:cNvPr>
          <p:cNvSpPr txBox="1"/>
          <p:nvPr/>
        </p:nvSpPr>
        <p:spPr>
          <a:xfrm>
            <a:off x="2634199" y="2034691"/>
            <a:ext cx="40996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b="1" dirty="0">
                <a:solidFill>
                  <a:srgbClr val="1A3A52"/>
                </a:solidFill>
                <a:latin typeface="Calibri"/>
              </a:rPr>
              <a:t>THANK YOU</a:t>
            </a:r>
            <a:endParaRPr sz="5400" b="1" dirty="0">
              <a:solidFill>
                <a:srgbClr val="1A3A52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5301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821</Words>
  <Application>Microsoft Office PowerPoint</Application>
  <PresentationFormat>On-screen Show (16:9)</PresentationFormat>
  <Paragraphs>120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Harshit Ratanpalke</cp:lastModifiedBy>
  <cp:revision>5</cp:revision>
  <dcterms:created xsi:type="dcterms:W3CDTF">2026-09-22T05:12:51Z</dcterms:created>
  <dcterms:modified xsi:type="dcterms:W3CDTF">2026-09-22T08:15:30Z</dcterms:modified>
</cp:coreProperties>
</file>