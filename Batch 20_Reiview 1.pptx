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368377"/>
              </p:ext>
            </p:extLst>
          </p:nvPr>
        </p:nvGraphicFramePr>
        <p:xfrm>
          <a:off x="8193271" y="4898509"/>
          <a:ext cx="370205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 : </a:t>
                      </a: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D.Vinay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Varma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2420030272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 : </a:t>
                      </a: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R.Harshit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2420030271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 : Sai Teja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: 2420030764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77886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Dr.Neelima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Assistent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 : 20-08-2026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65610" cy="118711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32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dirty="0">
                <a:solidFill>
                  <a:schemeClr val="bg1"/>
                </a:solidFill>
                <a:latin typeface="Calibri" panose="020F0502020204030204"/>
                <a:cs typeface="Poppins" pitchFamily="2" charset="77"/>
              </a:rPr>
              <a:t>AI-Driven Recruitment &amp; HR: Recruitment Approval Workflow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570C8B-E23C-0C57-F16A-576D462EB04F}"/>
              </a:ext>
            </a:extLst>
          </p:cNvPr>
          <p:cNvGrpSpPr/>
          <p:nvPr/>
        </p:nvGrpSpPr>
        <p:grpSpPr>
          <a:xfrm>
            <a:off x="10238009" y="55706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D053D4B4-859F-490F-CC03-761215515E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2B1374FA-250B-F775-3368-8D5BCD1C8513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CB95401-204E-9C56-5D43-AD787E40F41F}"/>
              </a:ext>
            </a:extLst>
          </p:cNvPr>
          <p:cNvGrpSpPr/>
          <p:nvPr/>
        </p:nvGrpSpPr>
        <p:grpSpPr>
          <a:xfrm>
            <a:off x="9272679" y="54267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BB6D850-3138-5DE9-410E-BD2A15E31769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952E3BE-E9E0-3905-124E-3B5547911CAD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13305F-3FEA-A85D-D80F-96D3D753F7FB}"/>
              </a:ext>
            </a:extLst>
          </p:cNvPr>
          <p:cNvGrpSpPr/>
          <p:nvPr/>
        </p:nvGrpSpPr>
        <p:grpSpPr>
          <a:xfrm>
            <a:off x="8476976" y="531629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6568F47B-3989-7132-240E-7A60B43AE038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2FC7E66-9B18-0EB6-9CBB-B64BBB56B911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E8FAE1-2DC9-9F6D-C920-84BA1805D892}"/>
              </a:ext>
            </a:extLst>
          </p:cNvPr>
          <p:cNvGrpSpPr/>
          <p:nvPr/>
        </p:nvGrpSpPr>
        <p:grpSpPr>
          <a:xfrm>
            <a:off x="7761133" y="531630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8681CA0-E26E-D838-802B-0A798D1D48D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CE8602C-83F9-63D8-359D-39537CD4E958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AD0AF1-756E-21B6-9BAC-D09B96462761}"/>
              </a:ext>
            </a:extLst>
          </p:cNvPr>
          <p:cNvGrpSpPr/>
          <p:nvPr/>
        </p:nvGrpSpPr>
        <p:grpSpPr>
          <a:xfrm>
            <a:off x="6897954" y="50767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01AD911-4C50-6E0A-DE64-5E6AA743FD86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2AB10C55-4078-1BCD-9EBD-116929036BB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A6991A-6CBC-3FD1-65D2-A12432C7C134}"/>
              </a:ext>
            </a:extLst>
          </p:cNvPr>
          <p:cNvGrpSpPr/>
          <p:nvPr/>
        </p:nvGrpSpPr>
        <p:grpSpPr>
          <a:xfrm>
            <a:off x="6035986" y="53307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C395D313-B2A4-C345-AA6A-B00ABFC622FB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BFA5AB3-6D06-5DD5-8598-20B41D37704F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4B46E6-7242-D75D-DDF1-CF2EC097B335}"/>
              </a:ext>
            </a:extLst>
          </p:cNvPr>
          <p:cNvGrpSpPr/>
          <p:nvPr/>
        </p:nvGrpSpPr>
        <p:grpSpPr>
          <a:xfrm>
            <a:off x="5189462" y="551558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46184BDE-6AD8-F151-DE71-A0F0FCBCE599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B3B1C952-D871-E8BE-9E6F-BC9BDD5AEB01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A1B6C5E-3A46-612F-4694-FB688041E405}"/>
              </a:ext>
            </a:extLst>
          </p:cNvPr>
          <p:cNvGrpSpPr/>
          <p:nvPr/>
        </p:nvGrpSpPr>
        <p:grpSpPr>
          <a:xfrm>
            <a:off x="4225790" y="559546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82EAFE96-73B2-5399-A079-F917FC941737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ADF7B5F0-95AC-1A78-96BB-636C5CCC5F6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EAEFDE-CFA3-5091-3B6C-ED69B481EB76}"/>
              </a:ext>
            </a:extLst>
          </p:cNvPr>
          <p:cNvGrpSpPr/>
          <p:nvPr/>
        </p:nvGrpSpPr>
        <p:grpSpPr>
          <a:xfrm>
            <a:off x="3132797" y="558178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C22C9212-8943-F28D-B792-93D05E41356D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D5E1A83A-0830-6B62-D145-6B4F44E86529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EEDC9E-3577-E86C-B8A2-E9E783B4E116}"/>
              </a:ext>
            </a:extLst>
          </p:cNvPr>
          <p:cNvGrpSpPr/>
          <p:nvPr/>
        </p:nvGrpSpPr>
        <p:grpSpPr>
          <a:xfrm>
            <a:off x="1834836" y="550392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C5418C23-0AB3-2395-BB55-044D7CAF9A76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334FEF35-5F3B-4C3A-9C30-9A9DCE4F4674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7A2E52F-11A7-A054-6D2A-9F8C6FE3D5AC}"/>
              </a:ext>
            </a:extLst>
          </p:cNvPr>
          <p:cNvGrpSpPr/>
          <p:nvPr/>
        </p:nvGrpSpPr>
        <p:grpSpPr>
          <a:xfrm>
            <a:off x="11508243" y="14576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99CF4670-1A5A-FBDF-C16A-CB1F1E1246EC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5BC5C8F2-3D5F-1F25-0909-63AA28B94A03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523E0EF-F157-CC79-3040-9F34DD65AC80}"/>
              </a:ext>
            </a:extLst>
          </p:cNvPr>
          <p:cNvGrpSpPr/>
          <p:nvPr/>
        </p:nvGrpSpPr>
        <p:grpSpPr>
          <a:xfrm>
            <a:off x="491091" y="148161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E587E95B-CEB2-A141-5A17-6A6B0D45B6AC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7D60FA47-C372-90F2-1FE1-EAB94F8E226E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4309C4-C838-B35B-941E-9214C9F3A7BC}"/>
              </a:ext>
            </a:extLst>
          </p:cNvPr>
          <p:cNvGrpSpPr/>
          <p:nvPr/>
        </p:nvGrpSpPr>
        <p:grpSpPr>
          <a:xfrm>
            <a:off x="11353800" y="56664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E37D5FD1-B525-0968-681E-F2935FDD4F72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FEFF7172-B758-E7D4-BA91-960337ED69EA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B1BB9A8-9550-C1EC-0779-A5695EC4839A}"/>
              </a:ext>
            </a:extLst>
          </p:cNvPr>
          <p:cNvGrpSpPr/>
          <p:nvPr/>
        </p:nvGrpSpPr>
        <p:grpSpPr>
          <a:xfrm>
            <a:off x="510669" y="60085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014FC647-F1E4-57AF-2A56-7B4E546DECBB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3DE45A74-B80A-10B0-A1D0-C1373AD29BDF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FF7323-53B1-E683-031F-BC542F4C67EA}"/>
              </a:ext>
            </a:extLst>
          </p:cNvPr>
          <p:cNvSpPr txBox="1"/>
          <p:nvPr/>
        </p:nvSpPr>
        <p:spPr>
          <a:xfrm>
            <a:off x="482600" y="1244599"/>
            <a:ext cx="1092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Organizations often manage recruitment requests through manual or loosely integrated processes involving emails, spreadsheets, and multiple departments.</a:t>
            </a:r>
          </a:p>
          <a:p>
            <a:pPr>
              <a:buNone/>
            </a:pPr>
            <a:r>
              <a:rPr lang="en-IN" sz="2800" dirty="0"/>
              <a:t>This can lead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Delayed approval of recruitment requests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Lack of centralized request tracking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Difficulty monitoring approval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Unauthorized access to recruitment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Poor communication between recruiters and HR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Limited scalability of monolithic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Difficulty maintaining an auditable approval history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71D4F8-EB2B-95DA-54FC-CE54AB2BAE7C}"/>
              </a:ext>
            </a:extLst>
          </p:cNvPr>
          <p:cNvSpPr txBox="1"/>
          <p:nvPr/>
        </p:nvSpPr>
        <p:spPr>
          <a:xfrm>
            <a:off x="1058333" y="1544809"/>
            <a:ext cx="994833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 digital recruitment request submission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role-based access for Recruiters, HR personnel, and Administrators.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Automate recruitment approval and rejection workflows.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real-time request status tracking.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secure authentication using JWT.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independent microservices for different business functionalities.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service discovery using Eureka.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centralized API routing using Spring Cloud Gateway.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 separate databases for individual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asynchronous notifications using Kafka.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REST APIs for service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Test APIs and services using Postman and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415047"/>
              </p:ext>
            </p:extLst>
          </p:nvPr>
        </p:nvGraphicFramePr>
        <p:xfrm>
          <a:off x="291579" y="598012"/>
          <a:ext cx="11642705" cy="57828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Abhishek, Hemank Lamba, Rajat Vikram Singh &amp; Sunpreet Arora — IIIT Delhi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rgbClr val="FF0000"/>
                          </a:solidFill>
                        </a:rPr>
                        <a:t>WorkFlow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Management System for a Recruitment Agency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Developed a workflow system for a recruitment agency that manages client requirements, resume matching, candidate selection, interviews, status updates and hiring completion.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Demonstrates how recruitment activities can be organized into a structured digital workflow with centralized tracking. 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Focuses mainly on recruitment-agency and candidate-processing workflows rather than an independent microservice-based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internal approval workflow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Di Francesco et al.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Deployment and Communication Patterns in Microservice Architectures: A Systematic Literature Review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Systematic analysis of microservice deployment and communication patterns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Identifies different communication and deployment approaches used in microservice systems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Selecting appropriate patterns remains dependent on system requirements 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Sai Ram 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</a:rPr>
                        <a:t>Deekonda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, S. Mahesh &amp; Mahesh Vennu — Hyderabad/Bengaluru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Web-Based Placement Workflow Management System Using MERN Stack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Implemented a MERN-based placement system with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JWT authentication, RBAC, company management, application tracking, eligibility filtering and audit logging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Demonstrates the usefulness of role-based workflows and centralized tracking for recruitment-related processes.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Uses a three-tier MERN architecture rather than the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Spring Boot microservices/SOA architecture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proposed in our project. Advanced analytics and some additional features were left for future enhancement.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4" y="4966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5D76D-3D8E-9D91-15C5-FF740CC5F6DB}"/>
              </a:ext>
            </a:extLst>
          </p:cNvPr>
          <p:cNvSpPr txBox="1"/>
          <p:nvPr/>
        </p:nvSpPr>
        <p:spPr>
          <a:xfrm>
            <a:off x="1363132" y="1246409"/>
            <a:ext cx="97366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Existing systems mainly focus on </a:t>
            </a:r>
            <a:r>
              <a:rPr lang="en-IN" sz="2400" b="1" dirty="0"/>
              <a:t>candidate management, placement, and recruitment-agency workflows</a:t>
            </a:r>
            <a:r>
              <a:rPr lang="en-IN" sz="2400" dirty="0"/>
              <a:t>, rather than internal recruitment approval.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Existing recruitment systems use </a:t>
            </a:r>
            <a:r>
              <a:rPr lang="en-IN" sz="2400" b="1" dirty="0"/>
              <a:t>MERN/three-tier architectures</a:t>
            </a:r>
            <a:r>
              <a:rPr lang="en-IN" sz="2400" dirty="0"/>
              <a:t> instead of </a:t>
            </a:r>
            <a:r>
              <a:rPr lang="en-IN" sz="2400" b="1" dirty="0"/>
              <a:t>Spring Boot microservices/SOA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limited separation of </a:t>
            </a:r>
            <a:r>
              <a:rPr lang="en-IN" sz="2400" b="1" dirty="0"/>
              <a:t>User, Recruitment, Approval, and Notification</a:t>
            </a:r>
            <a:r>
              <a:rPr lang="en-IN" sz="2400" dirty="0"/>
              <a:t>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Event-driven approval notifications</a:t>
            </a:r>
            <a:r>
              <a:rPr lang="en-IN" sz="2400" dirty="0"/>
              <a:t> using technologies such as Kafka are not emphasized.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Therefore, there is a need for a </a:t>
            </a:r>
            <a:r>
              <a:rPr lang="en-IN" sz="2400" b="1" dirty="0"/>
              <a:t>scalable microservices-based Recruitment Approval Workflow</a:t>
            </a:r>
            <a:r>
              <a:rPr lang="en-IN" sz="2400" dirty="0"/>
              <a:t> with JWT, RBAC, API Gateway, service discovery, and event-driven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B940F-69F6-0DBC-4B7C-879D306CEBE3}"/>
              </a:ext>
            </a:extLst>
          </p:cNvPr>
          <p:cNvSpPr txBox="1"/>
          <p:nvPr/>
        </p:nvSpPr>
        <p:spPr>
          <a:xfrm>
            <a:off x="1012527" y="1781033"/>
            <a:ext cx="100788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Microservices-based design:</a:t>
            </a:r>
            <a:r>
              <a:rPr lang="en-IN" sz="2400" dirty="0"/>
              <a:t> Separates User, Recruitment, Approval, and Notification services for independent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Automated approval workflow:</a:t>
            </a:r>
            <a:r>
              <a:rPr lang="en-IN" sz="2400" dirty="0"/>
              <a:t> Digitizes the recruitment request → HR review → approval/rejection process.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Event-driven notifications:</a:t>
            </a:r>
            <a:r>
              <a:rPr lang="en-IN" sz="2400" dirty="0"/>
              <a:t> Uses Kafka to trigger notifications when recruitment requests are approved or rejected.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Secure access:</a:t>
            </a:r>
            <a:r>
              <a:rPr lang="en-IN" sz="2400" dirty="0"/>
              <a:t> Implements JWT authentication and role-based authorization for Recruiters, HR, and Admins.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Scalable SOA architecture:</a:t>
            </a:r>
            <a:r>
              <a:rPr lang="en-IN" sz="2400" dirty="0"/>
              <a:t> Uses Eureka, Spring Cloud Gateway, and database-per-service to improve scalability and service independence.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207925-BD5E-C088-7B83-7AF61AE8B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00" y="0"/>
            <a:ext cx="12165173" cy="684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680</Words>
  <Application>Microsoft Office PowerPoint</Application>
  <PresentationFormat>Widescreen</PresentationFormat>
  <Paragraphs>105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vinay varma</cp:lastModifiedBy>
  <cp:revision>38</cp:revision>
  <dcterms:created xsi:type="dcterms:W3CDTF">2026-08-08T06:33:56Z</dcterms:created>
  <dcterms:modified xsi:type="dcterms:W3CDTF">2026-08-20T03:55:14Z</dcterms:modified>
</cp:coreProperties>
</file>